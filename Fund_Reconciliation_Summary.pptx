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FUND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6E4F0"/>
                </a:solidFill>
                <a:latin typeface="Calibri"/>
              </a:rPr>
              <a:t>Daily NAV Reconciliation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Valuation Date: March 31,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0"/>
                </a:solidFill>
                <a:latin typeface="Calibri"/>
              </a:rPr>
              <a:t>Plan Type: ERISA 401(k) &amp; Defined Benefit Pension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Prepared by: Aakash Malhan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6 Funds Monitored  |  4 Exceptions Flagged  |  4 Exceptions Resolved  |  100% Resolution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RECONCILIATION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Funds Reconciled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188720"/>
            <a:ext cx="256032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344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Exceptions Flagged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188720"/>
            <a:ext cx="2560320" cy="10058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344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Exceptions 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188720"/>
            <a:ext cx="256032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2344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Resolution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6002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68880"/>
            <a:ext cx="114300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871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Fund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871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Fund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4871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Plan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871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8036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53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Alpha Growth 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953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Mutual Fund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53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Defined Contribution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926079"/>
            <a:ext cx="2560320" cy="3474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953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8449"/>
                </a:solidFill>
                <a:latin typeface="Calibri"/>
              </a:rPr>
              <a:t>✓ Clean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55848"/>
            <a:ext cx="11430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29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Beta Bond Fund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429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Mutual Fund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29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Defined Benefit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3401568"/>
            <a:ext cx="2560320" cy="347472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4290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Calibri"/>
              </a:rPr>
              <a:t>⚠ Exception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31335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9044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Gamma Balanced Fund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9044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Separately Managed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9044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Defined Contribution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3877055"/>
            <a:ext cx="2560320" cy="347472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390448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Calibri"/>
              </a:rPr>
              <a:t>⚠ Exception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06824"/>
            <a:ext cx="11430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Delta Large Cap Fund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Collective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Defined Benefit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4352544"/>
            <a:ext cx="2560320" cy="3474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43799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8449"/>
                </a:solidFill>
                <a:latin typeface="Calibri"/>
              </a:rPr>
              <a:t>✓ Clean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782312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855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Epsilon Small Cap Fund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4855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Commingled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4855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Defined Contribution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828032"/>
            <a:ext cx="2560320" cy="347472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48554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Calibri"/>
              </a:rPr>
              <a:t>⚠ Exception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57800"/>
            <a:ext cx="11430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Zeta Income Fund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Separately Managed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Defined Benefit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95360" y="5303520"/>
            <a:ext cx="2560320" cy="3474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53309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8449"/>
                </a:solidFill>
                <a:latin typeface="Calibri"/>
              </a:rPr>
              <a:t>✓ Clean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EXCEPTIONS IDENTIFIED &amp; RESOLVED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5720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Price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Beta Bond 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097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TLT: Custodian price $92.10 vs Fund price $93.85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3560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Calibri"/>
              </a:rPr>
              <a:t>Variance: 1.90% — exceeds 0.5% threshold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097280"/>
            <a:ext cx="3749039" cy="11887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449"/>
                </a:solidFill>
                <a:latin typeface="Calibri"/>
              </a:rPr>
              <a:t>✓ 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99031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  <a:latin typeface="Calibri"/>
              </a:rPr>
              <a:t>Confirmed via Bloomberg terminal. Custodian used stale T-1 price.
Updated to correct end-of-day price of $93.85.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41448"/>
            <a:ext cx="116128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41448"/>
            <a:ext cx="45720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852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Price 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254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Epsilon Small Cap 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487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IWM: Custodian price $198.60 vs Fund price $201.30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825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Calibri"/>
              </a:rPr>
              <a:t>Variance: 1.36% — exceeds 0.5%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487168"/>
            <a:ext cx="3749039" cy="11887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2487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449"/>
                </a:solidFill>
                <a:latin typeface="Calibri"/>
              </a:rPr>
              <a:t>✓ 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78892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  <a:latin typeface="Calibri"/>
              </a:rPr>
              <a:t>Vendor price feed lag identified. Corrected to fund
administrator end-of-day NAV.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31335"/>
            <a:ext cx="116128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31335"/>
            <a:ext cx="45720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87705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Cash 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1538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Gamma Balanced Fund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87705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Custodian Cash: $95,000 vs Fund Records: $97,500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2153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Calibri"/>
              </a:rPr>
              <a:t>Difference: $2,500 — pending settlement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3877055"/>
            <a:ext cx="3749039" cy="11887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87705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449"/>
                </a:solidFill>
                <a:latin typeface="Calibri"/>
              </a:rPr>
              <a:t>✓ RESOLVED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178807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  <a:latin typeface="Calibri"/>
              </a:rPr>
              <a:t>Pending AAPL dividend settlement of $2,500 not yet
reflected in custodian records. Confirmed and resolved.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21224"/>
            <a:ext cx="116128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221224"/>
            <a:ext cx="45720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6327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266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Accrual 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05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Beta Bond Fund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2669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Calibri"/>
              </a:rPr>
              <a:t>TLT Coupon: Posted $1,650 vs Expected $1,875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605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Calibri"/>
              </a:rPr>
              <a:t>Difference: $225 — incorrect rate applied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266944"/>
            <a:ext cx="3749039" cy="11887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52669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449"/>
                </a:solidFill>
                <a:latin typeface="Calibri"/>
              </a:rPr>
              <a:t>✓ RESOLVED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568696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  <a:latin typeface="Calibri"/>
              </a:rPr>
              <a:t>Incorrect coupon rate used. Recalculated at 3.75%
on $50,000 par value. Entry reposted and 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METHODOLOGY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3327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RECONCILIATION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7315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7335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087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Holdings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Compared custodian prices vs fund prices for all 18
positions across 6 funds. Threshold: ±0.5%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7315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620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974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Cash Reconciliation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449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Reconciled custodian cash balances against fund
records. Identified and explained all breaks.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7315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5079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862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Accruals &amp; Income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3367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Verified dividend and coupon postings against
expected amounts using fund prospectus rates.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74920"/>
            <a:ext cx="7315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2395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74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Exception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2239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Documented root cause, corrective action, and
final resolution for each exception flagged.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005840"/>
            <a:ext cx="5760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005840"/>
            <a:ext cx="576072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03327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08760"/>
            <a:ext cx="10058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554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11.1%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508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Exception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856231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4 of 36 reconciliation checks flagged
exceptions — all resolved within SLA.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97480"/>
            <a:ext cx="10058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7432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697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Resolution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04495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Every exception was investigated, root-caused,
and corrected before NAV finalization.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86200"/>
            <a:ext cx="10058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931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$4,925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886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Total Variance 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23367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Combined dollar impact of all exceptions
across price, cash, and accrual categories.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074920"/>
            <a:ext cx="10058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1206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074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Unresolved Items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42239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Calibri"/>
              </a:rPr>
              <a:t>All accounts reconciled and signed off.
Ready for month-end client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